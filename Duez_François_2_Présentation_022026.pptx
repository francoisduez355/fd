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63" r:id="rId4"/>
    <p:sldId id="264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546" y="114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F009679-BB1E-F3AF-A0A6-CA2CC66A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8C0513C2-404F-8BAD-81ED-439C373002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B17C8370-D3E4-6CF3-E9BA-EFA7E95223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9170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CD2E0F9F-247E-70CD-37B0-6FCF28CC3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D0EDAA6C-D085-6C56-42D4-431B2ACC2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00495A86-3AC4-7FA7-5F37-4C6E379285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6254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CF3C5F8E-91E4-2887-55C4-BAECC757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93C43A1D-6E73-2DE7-5D2C-9DD84A3B2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7911FF2F-9993-6CB2-EA17-46C79209A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4343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6FA301E9-4E30-DBA4-4179-4A893F94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1AAEAF64-D347-3A82-DC0E-9C90616AC0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4B3BB678-234A-4EAB-CD10-6D7165F2F3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2539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C961739-2396-EA7A-8B42-B8F26E6F0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FE57CCAD-3E2D-915B-FDFD-9DA703A3F2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32EDC0E5-E95A-F6EB-B2AC-AEE251FBFB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8689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F4EDBC45-36C5-24B4-B29E-6229E0C9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4F4E8510-DE47-5B90-2A47-A43317166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FC62CCB0-4C42-4C6B-C46E-B316A9BA4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049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3ED9AE7C-588E-A3A8-9DF7-F852C62F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314B6BEC-DDD0-1300-4AA3-EC5EE5FF5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A31B728C-7D17-ED04-B219-B2E43A9B3F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186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A5658F15-C9CC-424E-1F8A-C479994C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42522132-7FCA-4C3B-E043-E17DD6F03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85B54B2E-C7EC-88F4-FD11-F2B095B9DB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934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55D12BE-67E6-0E1A-BCA2-F5FB9994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0E919E07-1FE1-D1BB-FB86-18043E4B0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A4BC6476-0AF4-ABEA-3069-61C50A38C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3687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E8F3FA6-7413-9CDB-D827-476D9F7D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467E53AB-01D9-958C-FC66-DE7004986E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45A648B6-8298-1277-122E-52C96F41F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65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E4C24B6F-5B5D-2EF7-8ADF-375284824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3C96C0ED-5E40-37C7-55FC-148DFFD53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A7C1E24F-94C0-BB81-3C57-B000733B4E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1756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500E4E0D-A0A9-93CF-D182-2F972D057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45AA1770-54B8-6ECC-63CE-F20486C625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49100214-53EA-1D4A-C1CE-296B8D1C0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380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F88B1835-5907-32B8-6224-B77D5820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6170AE58-1CC5-3020-45CF-1C88DC3DE5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6ABF388E-9CAB-2B53-9492-751BD86B1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174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D29C0CB-EC2B-34CA-A1B2-D218E4308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A3FE18ED-1546-6C53-22A6-2BB25CE0F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2160EF5D-4220-B23C-EB41-C4166D98A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9112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C3774B0-7B25-CD80-D661-2DCA488A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D35C3439-DA1C-A016-01B2-AC5D47920F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16099DB5-72E3-1B90-59DA-9EFC26C48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7675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E8E30437-C11D-2870-BB7E-D5517D3D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5C91F335-08B6-CC73-5CB5-6B8423B38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BCCEC135-46C9-3CDA-7F97-669F92E43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98047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BA1EA81C-0E0F-D372-A5B1-09047B38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E01129B2-2AA0-9049-60C8-04C06F15A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AD46009A-5DED-EE5C-B9ED-2C7AEB517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5949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F5491601-F845-0164-2A34-FBB44E444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478D11EE-B6BA-7C5A-0FAD-90C3FE1CC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98998D3F-2FE4-975C-0575-A5785C99D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2031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713112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Projet Data – Les plus beaux logis de Paris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92705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François DUEZ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01825" y="2997010"/>
            <a:ext cx="7140349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Optimisation de l’analyse et de la valorisation du portefeuille immobilier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12/03/2026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F6A8446C-437A-3C99-B6D6-0B72AD97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FFF73C73-DF5E-4AD2-BC61-DDF0F8FC49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0000" y="1350000"/>
            <a:ext cx="8516125" cy="3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36000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Activité de l’entreprise</a:t>
            </a:r>
          </a:p>
          <a:p>
            <a:pPr lvl="1" indent="-342900"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Achat de biens immobiliers</a:t>
            </a:r>
          </a:p>
          <a:p>
            <a:pPr lvl="1" indent="-342900"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Valorisation</a:t>
            </a:r>
          </a:p>
          <a:p>
            <a:pPr lvl="1" indent="-342900"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Revente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Problème opérationnel lorsqu’une opportunité apparaît</a:t>
            </a:r>
          </a:p>
          <a:p>
            <a:pPr lvl="1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Surface</a:t>
            </a:r>
          </a:p>
          <a:p>
            <a:pPr lvl="1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Localisation</a:t>
            </a:r>
          </a:p>
          <a:p>
            <a:pPr lvl="1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Prix potentiel</a:t>
            </a:r>
          </a:p>
          <a:p>
            <a:pPr lvl="1">
              <a:buClr>
                <a:srgbClr val="999999"/>
              </a:buClr>
              <a:buFont typeface="Montserrat"/>
              <a:buChar char="●"/>
            </a:pP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Type de bien inconnu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Conséquences</a:t>
            </a:r>
          </a:p>
          <a:p>
            <a:pPr lvl="1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Vérifications manuelles</a:t>
            </a:r>
          </a:p>
          <a:p>
            <a:pPr lvl="1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Pertes de temps</a:t>
            </a:r>
          </a:p>
          <a:p>
            <a:pPr lvl="1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Risques de rater une opportunité</a:t>
            </a: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B1F9600D-51ED-11C5-BBAC-9A3CECCF06DB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D0448EC9-CC58-3AC4-4BB9-225988469F38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Contexte métier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CC05FA5D-4BC7-5281-640C-8BD04A72EBFE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53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3394D160-744D-5FDE-0AFA-9221EEBD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96876420-F6D9-2B7D-0907-4189F576F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0000" y="1350000"/>
            <a:ext cx="7826905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82600">
              <a:buClr>
                <a:srgbClr val="999999"/>
              </a:buClr>
              <a:buSzPts val="1400"/>
              <a:buFont typeface="+mj-lt"/>
              <a:buAutoNum type="arabicPeriod"/>
            </a:pPr>
            <a:r>
              <a:rPr lang="fr-FR" i="1" dirty="0">
                <a:latin typeface="Montserrat" panose="00000500000000000000" pitchFamily="2" charset="0"/>
              </a:rPr>
              <a:t>Comprendre les </a:t>
            </a:r>
            <a:r>
              <a:rPr lang="fr-FR" b="1" i="1" dirty="0">
                <a:latin typeface="Montserrat" panose="00000500000000000000" pitchFamily="2" charset="0"/>
              </a:rPr>
              <a:t>facteurs qui influencent le prix immobilier à Paris</a:t>
            </a:r>
            <a:endParaRPr lang="fr-FR" i="1" dirty="0">
              <a:solidFill>
                <a:srgbClr val="999999"/>
              </a:solidFill>
              <a:latin typeface="Montserrat"/>
              <a:sym typeface="Montserrat"/>
            </a:endParaRPr>
          </a:p>
          <a:p>
            <a:pPr marL="482600">
              <a:buClr>
                <a:srgbClr val="999999"/>
              </a:buClr>
              <a:buSzPts val="1400"/>
              <a:buFont typeface="+mj-lt"/>
              <a:buAutoNum type="arabicPeriod"/>
            </a:pPr>
            <a:endParaRPr lang="fr-FR" i="1" dirty="0">
              <a:solidFill>
                <a:srgbClr val="999999"/>
              </a:solidFill>
              <a:latin typeface="Montserrat"/>
              <a:sym typeface="Montserrat"/>
            </a:endParaRPr>
          </a:p>
          <a:p>
            <a:pPr marL="482600">
              <a:buClr>
                <a:srgbClr val="999999"/>
              </a:buClr>
              <a:buSzPts val="1400"/>
              <a:buFont typeface="+mj-lt"/>
              <a:buAutoNum type="arabicPeriod"/>
            </a:pPr>
            <a:r>
              <a:rPr lang="fr-FR" i="1" dirty="0">
                <a:latin typeface="Montserrat" panose="00000500000000000000" pitchFamily="2" charset="0"/>
              </a:rPr>
              <a:t>Construire un </a:t>
            </a:r>
            <a:r>
              <a:rPr lang="fr-FR" b="1" i="1" dirty="0">
                <a:latin typeface="Montserrat" panose="00000500000000000000" pitchFamily="2" charset="0"/>
              </a:rPr>
              <a:t>modèle de prédiction de la valeur foncière</a:t>
            </a:r>
            <a:endParaRPr lang="fr-FR" i="1" dirty="0">
              <a:solidFill>
                <a:srgbClr val="999999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482600">
              <a:buClr>
                <a:srgbClr val="999999"/>
              </a:buClr>
              <a:buSzPts val="1400"/>
              <a:buFont typeface="+mj-lt"/>
              <a:buAutoNum type="arabicPeriod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82600">
              <a:buClr>
                <a:srgbClr val="999999"/>
              </a:buClr>
              <a:buSzPts val="1400"/>
              <a:buFont typeface="+mj-lt"/>
              <a:buAutoNum type="arabicPeriod"/>
            </a:pPr>
            <a:r>
              <a:rPr lang="fr-FR" i="1" dirty="0">
                <a:latin typeface="Montserrat" panose="00000500000000000000" pitchFamily="2" charset="0"/>
              </a:rPr>
              <a:t>Estimer la </a:t>
            </a:r>
            <a:r>
              <a:rPr lang="fr-FR" b="1" i="1" dirty="0">
                <a:latin typeface="Montserrat" panose="00000500000000000000" pitchFamily="2" charset="0"/>
              </a:rPr>
              <a:t>valorisation du portefeuille actuel</a:t>
            </a:r>
            <a:endParaRPr lang="fr-FR" b="1" i="1" dirty="0">
              <a:solidFill>
                <a:srgbClr val="999999"/>
              </a:solidFill>
              <a:latin typeface="Montserrat" panose="00000500000000000000" pitchFamily="2" charset="0"/>
              <a:sym typeface="Montserrat"/>
            </a:endParaRPr>
          </a:p>
          <a:p>
            <a:pPr marL="482600">
              <a:buClr>
                <a:srgbClr val="999999"/>
              </a:buClr>
              <a:buSzPts val="1400"/>
              <a:buFont typeface="+mj-lt"/>
              <a:buAutoNum type="arabicPeriod"/>
            </a:pPr>
            <a:endParaRPr lang="fr-FR" sz="1800" b="1" i="1" dirty="0">
              <a:solidFill>
                <a:srgbClr val="999999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482600">
              <a:buClr>
                <a:srgbClr val="999999"/>
              </a:buClr>
              <a:buSzPts val="1400"/>
              <a:buFont typeface="+mj-lt"/>
              <a:buAutoNum type="arabicPeriod"/>
            </a:pPr>
            <a:r>
              <a:rPr lang="fr-FR" i="1" dirty="0">
                <a:latin typeface="Montserrat" panose="00000500000000000000" pitchFamily="2" charset="0"/>
              </a:rPr>
              <a:t>Développer un outil capable de </a:t>
            </a:r>
            <a:r>
              <a:rPr lang="fr-FR" b="1" i="1" dirty="0">
                <a:latin typeface="Montserrat" panose="00000500000000000000" pitchFamily="2" charset="0"/>
              </a:rPr>
              <a:t>classer automatiquement les biens </a:t>
            </a:r>
            <a:r>
              <a:rPr lang="fr-FR" i="1" dirty="0">
                <a:latin typeface="Montserrat" panose="00000500000000000000" pitchFamily="2" charset="0"/>
              </a:rPr>
              <a:t>(appartement ou local commercial)</a:t>
            </a:r>
            <a:endParaRPr lang="fr-FR" sz="1800" i="1" dirty="0">
              <a:solidFill>
                <a:srgbClr val="999999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"/>
              <a:buChar char="○"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"/>
              <a:buChar char="○"/>
            </a:pPr>
            <a:endParaRPr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AC117C0E-066C-00D9-85D4-2778DBE71C7B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F0AE97EE-B038-D798-82E0-2BDBE8025C0A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Objectifs de l’analyse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89D67C0F-746C-1042-099E-3D89EF79C2DA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52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1D23CB15-5B74-84BD-118D-F145B133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20ED7AD8-158D-F7B4-64FB-5F56AEF44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4" y="1390200"/>
            <a:ext cx="8520600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39800" lvl="1" indent="-342900">
              <a:buClr>
                <a:srgbClr val="999999"/>
              </a:buClr>
              <a:buFont typeface="+mj-lt"/>
              <a:buAutoNum type="arabicPeriod"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2017-2021 : 26 196 transactions immobilières</a:t>
            </a:r>
          </a:p>
          <a:p>
            <a:pPr marL="939800" lvl="1" indent="-342900">
              <a:buClr>
                <a:srgbClr val="999999"/>
              </a:buClr>
              <a:buFont typeface="+mj-lt"/>
              <a:buAutoNum type="arabicPeriod"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39800" lvl="1" indent="-342900">
              <a:buClr>
                <a:srgbClr val="999999"/>
              </a:buClr>
              <a:buFont typeface="+mj-lt"/>
              <a:buAutoNum type="arabicPeriod"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Variables principales</a:t>
            </a:r>
          </a:p>
          <a:p>
            <a:pPr marL="1454150" lvl="2" indent="-400050">
              <a:buClr>
                <a:srgbClr val="999999"/>
              </a:buClr>
              <a:buFont typeface="+mj-lt"/>
              <a:buAutoNum type="romanLcPeriod"/>
            </a:pPr>
            <a:r>
              <a:rPr lang="fr-FR" sz="18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Date_mutation</a:t>
            </a: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454150" lvl="2" indent="-400050">
              <a:buClr>
                <a:srgbClr val="999999"/>
              </a:buClr>
              <a:buFont typeface="+mj-lt"/>
              <a:buAutoNum type="romanLcPeriod"/>
            </a:pPr>
            <a:r>
              <a:rPr lang="fr-FR" sz="18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Surface_reelle</a:t>
            </a: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454150" lvl="2" indent="-400050">
              <a:buClr>
                <a:srgbClr val="999999"/>
              </a:buClr>
              <a:buFont typeface="+mj-lt"/>
              <a:buAutoNum type="romanLcPeriod"/>
            </a:pPr>
            <a:r>
              <a:rPr lang="fr-FR" sz="18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Code_postal</a:t>
            </a: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454150" lvl="2" indent="-400050">
              <a:buClr>
                <a:srgbClr val="999999"/>
              </a:buClr>
              <a:buFont typeface="+mj-lt"/>
              <a:buAutoNum type="romanLcPeriod"/>
            </a:pPr>
            <a:r>
              <a:rPr lang="fr-FR" sz="18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Type_local</a:t>
            </a: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454150" lvl="2" indent="-400050">
              <a:buClr>
                <a:srgbClr val="999999"/>
              </a:buClr>
              <a:buFont typeface="+mj-lt"/>
              <a:buAutoNum type="romanLcPeriod"/>
            </a:pPr>
            <a:r>
              <a:rPr lang="fr-FR" sz="18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Valeur_fonciere</a:t>
            </a: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11350" lvl="3" indent="-400050">
              <a:buClr>
                <a:srgbClr val="999999"/>
              </a:buClr>
              <a:buFont typeface="+mj-lt"/>
              <a:buAutoNum type="romanLcPeriod"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F474AB42-EC03-30A4-34B9-AF7627C4FDF7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361CBBB3-0A40-0B96-AFE8-3470990DB10A}"/>
              </a:ext>
            </a:extLst>
          </p:cNvPr>
          <p:cNvSpPr txBox="1"/>
          <p:nvPr/>
        </p:nvSpPr>
        <p:spPr>
          <a:xfrm>
            <a:off x="534578" y="3579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Premier jeu de données : historique de transactions</a:t>
            </a:r>
            <a:endParaRPr lang="fr-FR" sz="2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026818E3-9B58-AD18-79BC-F684803023FE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2390BDA-AA3F-F36E-0014-871BC0388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018" y="2201397"/>
            <a:ext cx="3334215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1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BAFD501-3369-1313-8114-F17A5ECC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72400E9B-FC00-5532-77C1-89C95CAA8B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4" y="1748125"/>
            <a:ext cx="8520600" cy="3343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Deux types de biens identifiés</a:t>
            </a:r>
          </a:p>
          <a:p>
            <a:pPr marL="939800" lvl="1" indent="-342900">
              <a:buClr>
                <a:srgbClr val="999999"/>
              </a:buClr>
              <a:buFont typeface="+mj-lt"/>
              <a:buAutoNum type="arabicPeriod"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Appartements</a:t>
            </a:r>
          </a:p>
          <a:p>
            <a:pPr marL="939800" lvl="1" indent="-342900">
              <a:buClr>
                <a:srgbClr val="999999"/>
              </a:buClr>
              <a:buFont typeface="+mj-lt"/>
              <a:buAutoNum type="arabicPeriod"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Locaux commerciaux</a:t>
            </a:r>
          </a:p>
          <a:p>
            <a:pPr marL="1911350" lvl="3" indent="-400050">
              <a:buClr>
                <a:srgbClr val="999999"/>
              </a:buClr>
              <a:buFont typeface="+mj-lt"/>
              <a:buAutoNum type="romanLcPeriod"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2ABDB0B3-A2EF-B7C9-B417-F0739C5F9F9F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AB212091-4B01-96B1-2F8E-1D6EEAB773FD}"/>
              </a:ext>
            </a:extLst>
          </p:cNvPr>
          <p:cNvSpPr txBox="1"/>
          <p:nvPr/>
        </p:nvSpPr>
        <p:spPr>
          <a:xfrm>
            <a:off x="534578" y="3579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Types de biens immobiliers</a:t>
            </a:r>
            <a:endParaRPr lang="fr-FR" sz="2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2B837245-F1F1-0330-9D8E-71F439D80A63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DE8A4D-17A7-F698-B0B2-3E5B8E8AB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656" y="3301873"/>
            <a:ext cx="5048955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109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D797DCCD-3154-7FE8-CB0F-0103890B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B56E1525-AE8E-D6E0-0E91-5E0EB41F81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4" y="1390200"/>
            <a:ext cx="8520600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Prix au mètre carré des appartements : évolution à Paris</a:t>
            </a:r>
          </a:p>
          <a:p>
            <a:pPr marL="1911350" lvl="3" indent="-400050">
              <a:buClr>
                <a:srgbClr val="999999"/>
              </a:buClr>
              <a:buFont typeface="+mj-lt"/>
              <a:buAutoNum type="romanLcPeriod"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EB9D2DA0-A10A-2B1E-2CF2-D1D601CCBC28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3452A9F7-C208-334A-3B9A-028BDEB53AC0}"/>
              </a:ext>
            </a:extLst>
          </p:cNvPr>
          <p:cNvSpPr txBox="1"/>
          <p:nvPr/>
        </p:nvSpPr>
        <p:spPr>
          <a:xfrm>
            <a:off x="534578" y="3579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Analyse exploratoire du marché : tout Paris</a:t>
            </a:r>
            <a:endParaRPr lang="fr-FR" sz="2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3DA0FCFF-86A0-1B36-9A3A-46E0F9A7EB31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53990FA-EDBE-0944-11BC-0803FAF53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179" y="2632554"/>
            <a:ext cx="971686" cy="151468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ADDB805-4DCE-E3C0-A7EC-F2CC069DD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501" y="1821221"/>
            <a:ext cx="3707377" cy="327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70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89AE0F79-5786-5771-42FF-75544739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B950D9AB-7690-1BAF-B784-1B14B1732E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3" y="1390200"/>
            <a:ext cx="8982767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Prix au mètre carré : évolution dans chaque arrondissement de Paris</a:t>
            </a:r>
          </a:p>
          <a:p>
            <a:pPr marL="1911350" lvl="3" indent="-400050">
              <a:buClr>
                <a:srgbClr val="999999"/>
              </a:buClr>
              <a:buFont typeface="+mj-lt"/>
              <a:buAutoNum type="romanLcPeriod"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28B35594-15DC-40A6-A479-D134E6C1E8DD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A99BFA29-02BE-2722-A046-3C338ED043AB}"/>
              </a:ext>
            </a:extLst>
          </p:cNvPr>
          <p:cNvSpPr txBox="1"/>
          <p:nvPr/>
        </p:nvSpPr>
        <p:spPr>
          <a:xfrm>
            <a:off x="534578" y="3579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 exploratoire du marché par arrondissement</a:t>
            </a:r>
            <a:endParaRPr lang="fr-FR" sz="2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33ADA763-400C-1495-1F6D-C0608C0FD0C0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40603CD-FF7C-6F49-9976-C07842045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376" y="1748125"/>
            <a:ext cx="5069248" cy="33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3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45D6DE93-3604-E193-450A-B095E2FD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338301B6-6184-3C10-CDBC-71F532B763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3" y="1390200"/>
            <a:ext cx="8982767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Répartition des 782 transactions réalisées dans le 6</a:t>
            </a:r>
            <a:r>
              <a:rPr lang="fr-FR" sz="1800" i="1" baseline="3000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arrondissement</a:t>
            </a:r>
          </a:p>
          <a:p>
            <a:pPr marL="1911350" lvl="3" indent="-400050">
              <a:buClr>
                <a:srgbClr val="999999"/>
              </a:buClr>
              <a:buFont typeface="+mj-lt"/>
              <a:buAutoNum type="romanLcPeriod"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0618ADB9-9372-52AA-C3E0-64210A6BCDAA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4E3ABB07-F50F-3165-9B5F-C42BB32DD3C3}"/>
              </a:ext>
            </a:extLst>
          </p:cNvPr>
          <p:cNvSpPr txBox="1"/>
          <p:nvPr/>
        </p:nvSpPr>
        <p:spPr>
          <a:xfrm>
            <a:off x="511105" y="137371"/>
            <a:ext cx="8520600" cy="90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buSzPts val="2500"/>
            </a:pPr>
            <a:r>
              <a:rPr lang="fr-FR" sz="3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Analyse exploratoire du marché</a:t>
            </a:r>
            <a:r>
              <a:rPr lang="fr-FR" sz="4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 </a:t>
            </a:r>
          </a:p>
          <a:p>
            <a:pPr lvl="0">
              <a:buSzPts val="2500"/>
            </a:pPr>
            <a:r>
              <a:rPr lang="fr-FR" sz="26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Exemple du 6e arrondissement</a:t>
            </a: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748BCDD3-1774-F2D9-3D9D-15D854FEE47C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4F35226-314F-8BB8-09ED-802906A05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860" y="1830921"/>
            <a:ext cx="4842711" cy="326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2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B44BBAD3-A910-C5E4-C923-C16FA7AC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EE7CBF83-D98E-2D7A-B369-BECF6F026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3" y="1390200"/>
            <a:ext cx="8982767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Analyse statistique : vérification de la corrélation entre l’année et le prix au mètre carré dans le 6</a:t>
            </a:r>
            <a:r>
              <a:rPr lang="fr-FR" sz="1800" i="1" baseline="3000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arrondissement</a:t>
            </a: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	 L’année de la vente influence fortement le prix de la transaction (cause probable : inflation, surtout entre 2017 et 2020)</a:t>
            </a: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58701C88-AB78-3673-AAAA-827D1B857CCB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AA90A90E-8670-EC27-2258-C4C4A0F9D5F2}"/>
              </a:ext>
            </a:extLst>
          </p:cNvPr>
          <p:cNvSpPr txBox="1"/>
          <p:nvPr/>
        </p:nvSpPr>
        <p:spPr>
          <a:xfrm>
            <a:off x="511105" y="137371"/>
            <a:ext cx="8520600" cy="90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buSzPts val="2500"/>
            </a:pPr>
            <a:r>
              <a:rPr lang="fr-FR" sz="3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 exploratoire du marché</a:t>
            </a:r>
            <a:r>
              <a:rPr lang="fr-FR" sz="4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</a:t>
            </a:r>
          </a:p>
          <a:p>
            <a:pPr lvl="0">
              <a:buSzPts val="2500"/>
            </a:pPr>
            <a:r>
              <a:rPr lang="fr-FR" sz="26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Exemple du 6e arrondissement</a:t>
            </a: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FFCBE685-999F-6963-E3F5-1E6F3484543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A89E2E0-E8BB-97A6-1B52-B1389ECAD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525" y="2503744"/>
            <a:ext cx="6639852" cy="1114581"/>
          </a:xfrm>
          <a:prstGeom prst="rect">
            <a:avLst/>
          </a:prstGeom>
        </p:spPr>
      </p:pic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7E54C1DF-68FD-AF16-6AC5-AFC74BA07096}"/>
              </a:ext>
            </a:extLst>
          </p:cNvPr>
          <p:cNvSpPr/>
          <p:nvPr/>
        </p:nvSpPr>
        <p:spPr>
          <a:xfrm>
            <a:off x="721895" y="4082716"/>
            <a:ext cx="232610" cy="1524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9863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5585228-1AD3-D849-1EE5-AA52B3E48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6A417702-9646-DF2B-1F5C-B4769A951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3" y="1390200"/>
            <a:ext cx="8982767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Analyse statistique : vérification de la corrélation entre la surface et le prix</a:t>
            </a: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	 </a:t>
            </a:r>
          </a:p>
          <a:p>
            <a:pPr marL="596900" lvl="1" indent="0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	La surface est le facteur principal influençant le prix.</a:t>
            </a: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EE3FA1A6-D8CD-DFAB-E3A7-39E239DC86E5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8F480BF9-B3B5-8CB9-854F-D481A1447F06}"/>
              </a:ext>
            </a:extLst>
          </p:cNvPr>
          <p:cNvSpPr txBox="1"/>
          <p:nvPr/>
        </p:nvSpPr>
        <p:spPr>
          <a:xfrm>
            <a:off x="511105" y="137371"/>
            <a:ext cx="8520600" cy="90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buSzPts val="2500"/>
            </a:pPr>
            <a:r>
              <a:rPr lang="fr-FR" sz="3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Analyse exploratoire du marché</a:t>
            </a:r>
            <a:r>
              <a:rPr lang="fr-FR" sz="4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 </a:t>
            </a:r>
          </a:p>
          <a:p>
            <a:pPr lvl="0">
              <a:buSzPts val="2500"/>
            </a:pPr>
            <a:r>
              <a:rPr lang="fr-FR" sz="26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Impact de la surface</a:t>
            </a: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4232C656-BC5E-749B-BAAF-9AEFBEB0C8E1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FB26FA95-B006-B6EF-ACE9-4AE177ADC6C0}"/>
              </a:ext>
            </a:extLst>
          </p:cNvPr>
          <p:cNvSpPr/>
          <p:nvPr/>
        </p:nvSpPr>
        <p:spPr>
          <a:xfrm>
            <a:off x="721895" y="4082716"/>
            <a:ext cx="232610" cy="1524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4AE1A2F-2458-C8FF-2B5C-5DCEC5A7A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535" y="2571750"/>
            <a:ext cx="6717740" cy="114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423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5F372175-5612-97A9-AEE1-C26A8E27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CA1CE0F9-753A-C681-60C7-94F4B29CB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3" y="1390200"/>
            <a:ext cx="4274409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 algn="just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Comparaison des prix au mètre carré en fonction du type de bien</a:t>
            </a: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algn="just">
              <a:buClr>
                <a:srgbClr val="999999"/>
              </a:buClr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Les locaux commerciaux sont plus chers que les appartements.</a:t>
            </a:r>
          </a:p>
          <a:p>
            <a:pPr lvl="1" algn="just">
              <a:buClr>
                <a:srgbClr val="999999"/>
              </a:buClr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La tendance est similaire</a:t>
            </a: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1AE8FBA7-26F0-CAD9-729F-0CD1DDF271E7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7D9693DE-D444-A216-CCE9-20F81CBC838B}"/>
              </a:ext>
            </a:extLst>
          </p:cNvPr>
          <p:cNvSpPr txBox="1"/>
          <p:nvPr/>
        </p:nvSpPr>
        <p:spPr>
          <a:xfrm>
            <a:off x="511105" y="137371"/>
            <a:ext cx="8520600" cy="90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buSzPts val="2500"/>
            </a:pPr>
            <a:r>
              <a:rPr lang="fr-FR" sz="3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 exploratoire du marché</a:t>
            </a:r>
            <a:r>
              <a:rPr lang="fr-FR" sz="4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</a:t>
            </a:r>
          </a:p>
          <a:p>
            <a:pPr lvl="0">
              <a:buSzPts val="2500"/>
            </a:pPr>
            <a:r>
              <a:rPr lang="fr-FR" sz="26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Impact du type de bien</a:t>
            </a: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18BABC99-465B-2DB4-17D7-ACBC5D13AEDB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032136C7-8206-AD78-86C7-A8295E72DAF4}"/>
              </a:ext>
            </a:extLst>
          </p:cNvPr>
          <p:cNvSpPr/>
          <p:nvPr/>
        </p:nvSpPr>
        <p:spPr>
          <a:xfrm rot="5400000" flipV="1">
            <a:off x="1305356" y="2612788"/>
            <a:ext cx="446341" cy="31178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5FEE125-7871-F823-7FF6-9AD775AD1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982" y="1416730"/>
            <a:ext cx="4648818" cy="367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308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5B512CC8-0205-8695-6709-4376407A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BA398830-05B2-AC92-675B-B561689DB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3" y="1390200"/>
            <a:ext cx="4274409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 algn="just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Variables retenues :</a:t>
            </a:r>
          </a:p>
          <a:p>
            <a:pPr lvl="1" algn="just">
              <a:buClr>
                <a:srgbClr val="999999"/>
              </a:buClr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surface</a:t>
            </a:r>
          </a:p>
          <a:p>
            <a:pPr lvl="1" algn="just">
              <a:buClr>
                <a:srgbClr val="999999"/>
              </a:buClr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année</a:t>
            </a:r>
          </a:p>
          <a:p>
            <a:pPr lvl="1" algn="just">
              <a:buClr>
                <a:srgbClr val="999999"/>
              </a:buClr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code postal</a:t>
            </a:r>
          </a:p>
          <a:p>
            <a:pPr lvl="1" algn="just">
              <a:buClr>
                <a:srgbClr val="999999"/>
              </a:buClr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type de bien</a:t>
            </a:r>
          </a:p>
          <a:p>
            <a:pPr lvl="1" algn="just">
              <a:buClr>
                <a:srgbClr val="999999"/>
              </a:buClr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Transformation : </a:t>
            </a:r>
            <a:r>
              <a:rPr lang="fr-FR" sz="18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One-hot</a:t>
            </a: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8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encoding</a:t>
            </a: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 pour les variables catégorielles</a:t>
            </a: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3E957F9A-117C-9E4B-C038-4A59613152E3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D385E8E5-1227-293A-019A-5E38FDCE8470}"/>
              </a:ext>
            </a:extLst>
          </p:cNvPr>
          <p:cNvSpPr txBox="1"/>
          <p:nvPr/>
        </p:nvSpPr>
        <p:spPr>
          <a:xfrm>
            <a:off x="511105" y="137371"/>
            <a:ext cx="8520600" cy="90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3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Modèle de prédiction</a:t>
            </a:r>
            <a:r>
              <a:rPr lang="fr-FR" sz="4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 </a:t>
            </a:r>
          </a:p>
          <a:p>
            <a:pPr lvl="0">
              <a:buSzPts val="2500"/>
            </a:pP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2D74D5B8-92E4-25E5-C75B-BC3DA04A64BE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7729A42-0D11-90C1-711A-28B9228BD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539" y="1488489"/>
            <a:ext cx="3825166" cy="36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31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7EBD01A9-9F0A-6EE9-F7EC-C305D54BE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88B76D04-4BD8-0E0D-C255-317F5002F3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3" y="1404000"/>
            <a:ext cx="7587104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91425" anchor="t" anchorCtr="0">
            <a:normAutofit/>
          </a:bodyPr>
          <a:lstStyle/>
          <a:p>
            <a:pPr marL="596900" lvl="1" indent="0" algn="just">
              <a:buClr>
                <a:srgbClr val="999999"/>
              </a:buClr>
              <a:buNone/>
            </a:pPr>
            <a:r>
              <a:rPr lang="fr-FR" sz="24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Pourquoi ?</a:t>
            </a:r>
          </a:p>
          <a:p>
            <a:pPr lvl="1" algn="just">
              <a:buClr>
                <a:srgbClr val="999999"/>
              </a:buClr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Efficace avec un split chronologique</a:t>
            </a:r>
          </a:p>
          <a:p>
            <a:pPr lvl="1" algn="just">
              <a:buClr>
                <a:srgbClr val="999999"/>
              </a:buClr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Bonne interprétation des interactions entre variables</a:t>
            </a:r>
          </a:p>
          <a:p>
            <a:pPr lvl="1" algn="just">
              <a:buClr>
                <a:srgbClr val="999999"/>
              </a:buClr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Bonne gestion des effets de seuil</a:t>
            </a:r>
          </a:p>
          <a:p>
            <a:pPr lvl="2" algn="just">
              <a:buClr>
                <a:srgbClr val="999999"/>
              </a:buClr>
            </a:pPr>
            <a:endParaRPr lang="fr-FR" sz="24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r>
              <a:rPr lang="fr-FR" sz="24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Séparation des données</a:t>
            </a:r>
          </a:p>
          <a:p>
            <a:pPr lvl="1" algn="just">
              <a:buClr>
                <a:srgbClr val="999999"/>
              </a:buClr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67 % entraînement</a:t>
            </a:r>
          </a:p>
          <a:p>
            <a:pPr lvl="1" algn="just">
              <a:buClr>
                <a:srgbClr val="999999"/>
              </a:buClr>
            </a:pPr>
            <a:r>
              <a:rPr lang="fr-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33 % test</a:t>
            </a: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C565DF22-A9A8-CD11-7F01-7B14B80EA83B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45B09F8A-9392-5023-1BA3-391991F984AD}"/>
              </a:ext>
            </a:extLst>
          </p:cNvPr>
          <p:cNvSpPr txBox="1"/>
          <p:nvPr/>
        </p:nvSpPr>
        <p:spPr>
          <a:xfrm>
            <a:off x="511105" y="105287"/>
            <a:ext cx="8520600" cy="1001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buSzPts val="2500"/>
            </a:pPr>
            <a:r>
              <a:rPr lang="fr-FR" sz="38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Algorithme utilisé : </a:t>
            </a:r>
          </a:p>
          <a:p>
            <a:pPr lvl="0">
              <a:buSzPts val="2500"/>
            </a:pPr>
            <a:r>
              <a:rPr lang="fr-FR" sz="38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eXtreme</a:t>
            </a:r>
            <a:r>
              <a:rPr lang="fr-FR" sz="38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Gradient </a:t>
            </a:r>
            <a:r>
              <a:rPr lang="fr-FR" sz="38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Boosting</a:t>
            </a:r>
            <a:endParaRPr lang="fr-FR" sz="38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</a:ext>
              </a:extLst>
            </a:endParaRPr>
          </a:p>
          <a:p>
            <a:pPr lvl="0">
              <a:buSzPts val="2500"/>
            </a:pP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EE898492-13C6-F973-F43A-BEF0A1D3EC6D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3131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86223C28-877C-A735-E009-8E429F7EF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A3EBEC83-0891-6C0F-ED32-ECADAAC2C0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3" y="1404000"/>
            <a:ext cx="7587104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91425" anchor="t" anchorCtr="0">
            <a:normAutofit/>
          </a:bodyPr>
          <a:lstStyle/>
          <a:p>
            <a:pPr marL="596900" lvl="1" indent="0" algn="just">
              <a:buClr>
                <a:srgbClr val="999999"/>
              </a:buClr>
              <a:buNone/>
            </a:pPr>
            <a:r>
              <a:rPr lang="fr-FR" sz="24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Résultats</a:t>
            </a: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3E7DD248-8647-6996-705A-67C4FA77029A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34A02B79-E784-CBD0-B466-289D3A77729D}"/>
              </a:ext>
            </a:extLst>
          </p:cNvPr>
          <p:cNvSpPr txBox="1"/>
          <p:nvPr/>
        </p:nvSpPr>
        <p:spPr>
          <a:xfrm>
            <a:off x="511105" y="137371"/>
            <a:ext cx="8520600" cy="90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3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Performance du modèle</a:t>
            </a:r>
            <a:endParaRPr lang="fr-FR" sz="4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</a:ext>
              </a:extLst>
            </a:endParaRPr>
          </a:p>
          <a:p>
            <a:pPr lvl="0">
              <a:buSzPts val="2500"/>
            </a:pP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F0BF0D59-9FB4-205E-E12C-72862DA2C9AA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620F859-3C3B-48D5-3F33-E87B35784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99" y="2417965"/>
            <a:ext cx="8145012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92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87E899BA-5F9F-52A6-3F28-EE23B8AF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94C8BD4D-3A39-9B8D-401E-F2BCAC3C5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3" y="1404000"/>
            <a:ext cx="7891904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91425" anchor="t" anchorCtr="0">
            <a:normAutofit/>
          </a:bodyPr>
          <a:lstStyle/>
          <a:p>
            <a:pPr marL="596900" lvl="1" indent="0" algn="just">
              <a:buClr>
                <a:srgbClr val="999999"/>
              </a:buClr>
              <a:buNone/>
            </a:pPr>
            <a:r>
              <a:rPr lang="fr-FR" sz="24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Prédiction des biens : adaptation du modèle au portefeuille</a:t>
            </a:r>
          </a:p>
          <a:p>
            <a:pPr lvl="2" algn="just">
              <a:buClr>
                <a:srgbClr val="999999"/>
              </a:buClr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Date de valorisation au 31/12/2022</a:t>
            </a:r>
          </a:p>
          <a:p>
            <a:pPr lvl="2" algn="just">
              <a:buClr>
                <a:srgbClr val="999999"/>
              </a:buClr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275 biens analysés</a:t>
            </a:r>
          </a:p>
          <a:p>
            <a:pPr lvl="3" algn="just">
              <a:buClr>
                <a:srgbClr val="999999"/>
              </a:buClr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154 appartements : 70 M€</a:t>
            </a:r>
          </a:p>
          <a:p>
            <a:pPr lvl="3" algn="just">
              <a:buClr>
                <a:srgbClr val="999999"/>
              </a:buClr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121 locaux commerciaux : 97 M€</a:t>
            </a: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9EC8A3B9-767F-9649-A45C-6EDF7B516E85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7930B24C-ED30-DF3D-5184-4565ACE6D4FE}"/>
              </a:ext>
            </a:extLst>
          </p:cNvPr>
          <p:cNvSpPr txBox="1"/>
          <p:nvPr/>
        </p:nvSpPr>
        <p:spPr>
          <a:xfrm>
            <a:off x="511105" y="137371"/>
            <a:ext cx="8520600" cy="90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3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Valorisation du portefeuille</a:t>
            </a:r>
            <a:endParaRPr lang="fr-FR" sz="4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</a:ext>
              </a:extLst>
            </a:endParaRPr>
          </a:p>
          <a:p>
            <a:pPr lvl="0">
              <a:buSzPts val="2500"/>
            </a:pP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A17CC0CE-8F4C-5D81-224A-DABB552910C2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F0158D5-B592-F112-E96A-CFDA389E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3" y="4040570"/>
            <a:ext cx="6561626" cy="70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34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7952450F-D996-D781-A354-7477499A2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203E473E-2191-9611-A180-7CF941B4AB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3" y="1404000"/>
            <a:ext cx="7891904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91425" anchor="t" anchorCtr="0">
            <a:normAutofit/>
          </a:bodyPr>
          <a:lstStyle/>
          <a:p>
            <a:pPr marL="596900" lvl="1" indent="0" algn="just">
              <a:buClr>
                <a:srgbClr val="999999"/>
              </a:buClr>
              <a:buNone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Objectif : identifier automatiquement le type de bien</a:t>
            </a: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20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Variable discriminante : </a:t>
            </a:r>
          </a:p>
          <a:p>
            <a:pPr lvl="1" algn="just">
              <a:buClr>
                <a:srgbClr val="999999"/>
              </a:buClr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Prix au mètre carré</a:t>
            </a: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Algorithme utilisé :</a:t>
            </a:r>
          </a:p>
          <a:p>
            <a:pPr lvl="1" algn="just">
              <a:buClr>
                <a:srgbClr val="999999"/>
              </a:buClr>
            </a:pPr>
            <a:r>
              <a:rPr lang="fr-FR" sz="20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KMeans</a:t>
            </a:r>
            <a:endParaRPr lang="fr-FR" sz="20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algn="just">
              <a:buClr>
                <a:srgbClr val="999999"/>
              </a:buClr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2 clusters</a:t>
            </a: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7271B95B-B2F4-3AB7-B701-02701B4111E7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9AE15237-8A16-E4CA-5A6E-4EB6176F6E11}"/>
              </a:ext>
            </a:extLst>
          </p:cNvPr>
          <p:cNvSpPr txBox="1"/>
          <p:nvPr/>
        </p:nvSpPr>
        <p:spPr>
          <a:xfrm>
            <a:off x="511105" y="137371"/>
            <a:ext cx="8520600" cy="90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3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Classification automatique</a:t>
            </a:r>
            <a:endParaRPr lang="fr-FR" sz="4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</a:ext>
              </a:extLst>
            </a:endParaRPr>
          </a:p>
          <a:p>
            <a:pPr lvl="0">
              <a:buSzPts val="2500"/>
            </a:pP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1D120423-6DEF-2B2A-1D6C-C9B75FE512E0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3DA1C3D-78F5-8FC1-3B7D-BDD3ACDE9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30526"/>
            <a:ext cx="4093853" cy="327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66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83E4D0AA-00DE-F9AE-7DCD-AF533E36C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2FFE4DF1-A3FF-688F-EC4A-0760EBF7D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3" y="1404000"/>
            <a:ext cx="7891904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91425" anchor="t" anchorCtr="0">
            <a:normAutofit/>
          </a:bodyPr>
          <a:lstStyle/>
          <a:p>
            <a:pPr marL="596900" lvl="1" indent="0" algn="just">
              <a:buClr>
                <a:srgbClr val="999999"/>
              </a:buClr>
              <a:buNone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Objectif : identifier automatiquement le type de bien</a:t>
            </a: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20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Tableau croisé : </a:t>
            </a:r>
          </a:p>
          <a:p>
            <a:pPr lvl="1" algn="just">
              <a:buClr>
                <a:srgbClr val="999999"/>
              </a:buClr>
            </a:pPr>
            <a:r>
              <a:rPr lang="fr-FR" sz="20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Type_local</a:t>
            </a: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vs cluster</a:t>
            </a:r>
          </a:p>
          <a:p>
            <a:pPr lvl="1" algn="just">
              <a:buClr>
                <a:srgbClr val="999999"/>
              </a:buClr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Séparation parfaite</a:t>
            </a: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Conclusion :</a:t>
            </a:r>
          </a:p>
          <a:p>
            <a:pPr lvl="1" algn="just">
              <a:buClr>
                <a:srgbClr val="999999"/>
              </a:buClr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Le prix au mètre carré permet de </a:t>
            </a:r>
            <a:r>
              <a:rPr lang="fr-FR" sz="2000" b="1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classer automatiquement les biens</a:t>
            </a:r>
          </a:p>
          <a:p>
            <a:pPr marL="596900" lvl="1" indent="0" algn="just">
              <a:buClr>
                <a:srgbClr val="999999"/>
              </a:buClr>
              <a:buNone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E91E67AF-301C-358E-CA28-AA0566E9334D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AEE59166-6B65-D4FD-CCA4-37FB33D30FE8}"/>
              </a:ext>
            </a:extLst>
          </p:cNvPr>
          <p:cNvSpPr txBox="1"/>
          <p:nvPr/>
        </p:nvSpPr>
        <p:spPr>
          <a:xfrm>
            <a:off x="511105" y="137371"/>
            <a:ext cx="8520600" cy="90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3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Classification automatique</a:t>
            </a:r>
            <a:endParaRPr lang="fr-FR" sz="4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</a:ext>
              </a:extLst>
            </a:endParaRPr>
          </a:p>
          <a:p>
            <a:pPr lvl="0">
              <a:buSzPts val="2500"/>
            </a:pP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88CC6D75-F92F-D8BB-2AA0-C6EF95E2A046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8B7537-0C60-77AF-608F-FB100A9C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530" y="2571750"/>
            <a:ext cx="2715004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92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3CB6FEF-9764-CA18-D50F-D49D9BB8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913E61C6-BBF6-816B-FE3C-6CD330AE1B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2" y="1404000"/>
            <a:ext cx="8148579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t" anchorCtr="0">
            <a:normAutofit/>
          </a:bodyPr>
          <a:lstStyle/>
          <a:p>
            <a:pPr marL="1054100" lvl="1" indent="-457200" algn="just">
              <a:buClr>
                <a:srgbClr val="999999"/>
              </a:buClr>
              <a:buFont typeface="+mj-lt"/>
              <a:buAutoNum type="arabicPeriod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Utiliser le modèle pour estimer rapidement la valeur des opportunités</a:t>
            </a:r>
          </a:p>
          <a:p>
            <a:pPr marL="1054100" lvl="1" indent="-457200" algn="just">
              <a:buClr>
                <a:srgbClr val="999999"/>
              </a:buClr>
              <a:buFont typeface="+mj-lt"/>
              <a:buAutoNum type="arabicPeriod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Utiliser la classification pour identifier automatiquement le type de bien</a:t>
            </a:r>
          </a:p>
          <a:p>
            <a:pPr marL="1054100" lvl="1" indent="-457200" algn="just">
              <a:buClr>
                <a:srgbClr val="999999"/>
              </a:buClr>
              <a:buFont typeface="+mj-lt"/>
              <a:buAutoNum type="arabicPeriod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Prioriser l’analyse des locaux commerciaux (plus forte valeur moyenne)</a:t>
            </a: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6EA9A84F-8214-42C6-DE34-6E7B21BC9BDA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62D73543-E7E0-0F0C-A6B2-693FD5BD710F}"/>
              </a:ext>
            </a:extLst>
          </p:cNvPr>
          <p:cNvSpPr txBox="1"/>
          <p:nvPr/>
        </p:nvSpPr>
        <p:spPr>
          <a:xfrm>
            <a:off x="511105" y="137371"/>
            <a:ext cx="8520600" cy="90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3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Recommandations business</a:t>
            </a:r>
            <a:endParaRPr lang="fr-FR" sz="4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</a:ext>
              </a:extLst>
            </a:endParaRPr>
          </a:p>
          <a:p>
            <a:pPr lvl="0">
              <a:buSzPts val="2500"/>
            </a:pP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4A95D20A-6B8C-0CEC-B11D-9448B14BB563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9289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BE4491AE-D4A0-0857-EE8A-E184F9120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4273BD90-D56A-69A3-069E-BA9BA5CE1C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2" y="1404000"/>
            <a:ext cx="9135167" cy="370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t" anchorCtr="0">
            <a:normAutofit/>
          </a:bodyPr>
          <a:lstStyle/>
          <a:p>
            <a:pPr marL="596900" lvl="1" indent="0" algn="just">
              <a:buClr>
                <a:srgbClr val="999999"/>
              </a:buClr>
              <a:buNone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Limites</a:t>
            </a:r>
          </a:p>
          <a:p>
            <a:pPr marL="1054100" lvl="1" indent="-457200" algn="just">
              <a:buClr>
                <a:srgbClr val="999999"/>
              </a:buClr>
              <a:buFont typeface="+mj-lt"/>
              <a:buAutoNum type="arabicPeriod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Données uniquement à Paris</a:t>
            </a:r>
          </a:p>
          <a:p>
            <a:pPr marL="1054100" lvl="1" indent="-457200" algn="just">
              <a:buClr>
                <a:srgbClr val="999999"/>
              </a:buClr>
              <a:buFont typeface="+mj-lt"/>
              <a:buAutoNum type="arabicPeriod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Manque de variables (étage, état…)</a:t>
            </a:r>
          </a:p>
          <a:p>
            <a:pPr marL="1054100" lvl="1" indent="-457200" algn="just">
              <a:buClr>
                <a:srgbClr val="999999"/>
              </a:buClr>
              <a:buFont typeface="+mj-lt"/>
              <a:buAutoNum type="arabicPeriod"/>
            </a:pPr>
            <a:endParaRPr lang="fr-FR" sz="18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96900" lvl="1" indent="0" algn="just">
              <a:buClr>
                <a:srgbClr val="999999"/>
              </a:buClr>
              <a:buNone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Pistes d’améliorations possibles</a:t>
            </a:r>
          </a:p>
          <a:p>
            <a:pPr marL="1054100" lvl="1" indent="-457200" algn="just">
              <a:buClr>
                <a:srgbClr val="999999"/>
              </a:buClr>
              <a:buFont typeface="+mj-lt"/>
              <a:buAutoNum type="arabicPeriod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Modèles plus avancés (</a:t>
            </a:r>
            <a:r>
              <a:rPr lang="fr-FR" sz="20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Random</a:t>
            </a: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Forest / </a:t>
            </a:r>
            <a:r>
              <a:rPr lang="fr-FR" sz="20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XGBoost</a:t>
            </a: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1054100" lvl="1" indent="-457200" algn="just">
              <a:buClr>
                <a:srgbClr val="999999"/>
              </a:buClr>
              <a:buFont typeface="+mj-lt"/>
              <a:buAutoNum type="arabicPeriod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Utilisation de données supplémentaires (nom de la rue…)</a:t>
            </a:r>
          </a:p>
          <a:p>
            <a:pPr marL="1054100" lvl="1" indent="-457200" algn="just">
              <a:buClr>
                <a:srgbClr val="999999"/>
              </a:buClr>
              <a:buFont typeface="+mj-lt"/>
              <a:buAutoNum type="arabicPeriod"/>
            </a:pP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Automatisation dans un outil interne</a:t>
            </a: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DD1B1622-51B2-3CE4-F7DD-54688FA53216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2C9FD01B-73D6-E7C5-26B4-4F5C2FA5CEC1}"/>
              </a:ext>
            </a:extLst>
          </p:cNvPr>
          <p:cNvSpPr txBox="1"/>
          <p:nvPr/>
        </p:nvSpPr>
        <p:spPr>
          <a:xfrm>
            <a:off x="511105" y="137371"/>
            <a:ext cx="8520600" cy="90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3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Limites et perspectives</a:t>
            </a:r>
            <a:endParaRPr lang="fr-FR" sz="4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</a:ext>
              </a:extLst>
            </a:endParaRPr>
          </a:p>
          <a:p>
            <a:pPr lvl="0">
              <a:buSzPts val="2500"/>
            </a:pPr>
            <a:endParaRPr lang="fr-FR" sz="26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0887E905-E638-19C2-809C-CCC164D4A2BF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96526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8729</TotalTime>
  <Words>539</Words>
  <Application>Microsoft Office PowerPoint</Application>
  <PresentationFormat>Affichage à l'écran (16:9)</PresentationFormat>
  <Paragraphs>130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Montserrat</vt:lpstr>
      <vt:lpstr>Arial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Francois Duez</dc:creator>
  <cp:lastModifiedBy>DUEZ François</cp:lastModifiedBy>
  <cp:revision>25</cp:revision>
  <dcterms:modified xsi:type="dcterms:W3CDTF">2026-03-12T19:31:01Z</dcterms:modified>
</cp:coreProperties>
</file>